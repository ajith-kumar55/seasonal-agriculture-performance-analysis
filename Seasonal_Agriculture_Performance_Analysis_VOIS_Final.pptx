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F03BC-496A-4833-A13E-0D45F1AEEE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038E5-F768-4434-826F-6B414FCD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4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038E5-F768-4434-826F-6B414FCDB93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960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3300" y="383246"/>
            <a:ext cx="3157854" cy="1074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40404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40404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0507" y="0"/>
            <a:ext cx="6351905" cy="9144635"/>
          </a:xfrm>
          <a:custGeom>
            <a:avLst/>
            <a:gdLst/>
            <a:ahLst/>
            <a:cxnLst/>
            <a:rect l="l" t="t" r="r" b="b"/>
            <a:pathLst>
              <a:path w="6351905" h="9144635">
                <a:moveTo>
                  <a:pt x="2594365" y="0"/>
                </a:moveTo>
                <a:lnTo>
                  <a:pt x="4219990" y="9144138"/>
                </a:lnTo>
              </a:path>
              <a:path w="6351905" h="9144635">
                <a:moveTo>
                  <a:pt x="6351508" y="4908625"/>
                </a:moveTo>
                <a:lnTo>
                  <a:pt x="0" y="9144139"/>
                </a:lnTo>
              </a:path>
            </a:pathLst>
          </a:custGeom>
          <a:ln w="25400">
            <a:solidFill>
              <a:srgbClr val="5ECB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242195" y="0"/>
            <a:ext cx="4010025" cy="9144000"/>
          </a:xfrm>
          <a:custGeom>
            <a:avLst/>
            <a:gdLst/>
            <a:ahLst/>
            <a:cxnLst/>
            <a:rect l="l" t="t" r="r" b="b"/>
            <a:pathLst>
              <a:path w="4010025" h="9144000">
                <a:moveTo>
                  <a:pt x="4009818" y="9143999"/>
                </a:moveTo>
                <a:lnTo>
                  <a:pt x="0" y="9143999"/>
                </a:lnTo>
                <a:lnTo>
                  <a:pt x="2724012" y="0"/>
                </a:lnTo>
                <a:lnTo>
                  <a:pt x="4009818" y="0"/>
                </a:lnTo>
                <a:lnTo>
                  <a:pt x="4009818" y="9143999"/>
                </a:lnTo>
                <a:close/>
              </a:path>
            </a:pathLst>
          </a:custGeom>
          <a:solidFill>
            <a:srgbClr val="5ECBEF">
              <a:alpha val="356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06772" y="0"/>
            <a:ext cx="3449320" cy="9144000"/>
          </a:xfrm>
          <a:custGeom>
            <a:avLst/>
            <a:gdLst/>
            <a:ahLst/>
            <a:cxnLst/>
            <a:rect l="l" t="t" r="r" b="b"/>
            <a:pathLst>
              <a:path w="3449319" h="9144000">
                <a:moveTo>
                  <a:pt x="3449227" y="9144000"/>
                </a:moveTo>
                <a:lnTo>
                  <a:pt x="1610625" y="9144000"/>
                </a:lnTo>
                <a:lnTo>
                  <a:pt x="0" y="0"/>
                </a:lnTo>
                <a:lnTo>
                  <a:pt x="3449227" y="0"/>
                </a:lnTo>
                <a:lnTo>
                  <a:pt x="3449227" y="9144000"/>
                </a:lnTo>
                <a:close/>
              </a:path>
            </a:pathLst>
          </a:custGeom>
          <a:solidFill>
            <a:srgbClr val="5ECBE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909959" y="4064062"/>
            <a:ext cx="4346575" cy="5080635"/>
          </a:xfrm>
          <a:custGeom>
            <a:avLst/>
            <a:gdLst/>
            <a:ahLst/>
            <a:cxnLst/>
            <a:rect l="l" t="t" r="r" b="b"/>
            <a:pathLst>
              <a:path w="4346575" h="5080634">
                <a:moveTo>
                  <a:pt x="4346321" y="5080127"/>
                </a:moveTo>
                <a:lnTo>
                  <a:pt x="0" y="5080127"/>
                </a:lnTo>
                <a:lnTo>
                  <a:pt x="4346321" y="0"/>
                </a:lnTo>
                <a:lnTo>
                  <a:pt x="4346321" y="5080127"/>
                </a:lnTo>
                <a:close/>
              </a:path>
            </a:pathLst>
          </a:custGeom>
          <a:solidFill>
            <a:srgbClr val="17AEE3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450252" y="0"/>
            <a:ext cx="3802379" cy="9144000"/>
          </a:xfrm>
          <a:custGeom>
            <a:avLst/>
            <a:gdLst/>
            <a:ahLst/>
            <a:cxnLst/>
            <a:rect l="l" t="t" r="r" b="b"/>
            <a:pathLst>
              <a:path w="3802380" h="9144000">
                <a:moveTo>
                  <a:pt x="3801763" y="9143999"/>
                </a:moveTo>
                <a:lnTo>
                  <a:pt x="3290271" y="9143999"/>
                </a:lnTo>
                <a:lnTo>
                  <a:pt x="0" y="0"/>
                </a:lnTo>
                <a:lnTo>
                  <a:pt x="3801763" y="0"/>
                </a:lnTo>
                <a:lnTo>
                  <a:pt x="3801763" y="9143999"/>
                </a:lnTo>
                <a:close/>
              </a:path>
            </a:pathLst>
          </a:custGeom>
          <a:solidFill>
            <a:srgbClr val="17AEE3">
              <a:alpha val="4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531880" y="0"/>
            <a:ext cx="1720214" cy="9144000"/>
          </a:xfrm>
          <a:custGeom>
            <a:avLst/>
            <a:gdLst/>
            <a:ahLst/>
            <a:cxnLst/>
            <a:rect l="l" t="t" r="r" b="b"/>
            <a:pathLst>
              <a:path w="1720215" h="9144000">
                <a:moveTo>
                  <a:pt x="1720131" y="9143999"/>
                </a:moveTo>
                <a:lnTo>
                  <a:pt x="0" y="9143999"/>
                </a:lnTo>
                <a:lnTo>
                  <a:pt x="1357970" y="0"/>
                </a:lnTo>
                <a:lnTo>
                  <a:pt x="1720131" y="0"/>
                </a:lnTo>
                <a:lnTo>
                  <a:pt x="1720131" y="9143999"/>
                </a:lnTo>
                <a:close/>
              </a:path>
            </a:pathLst>
          </a:custGeom>
          <a:solidFill>
            <a:srgbClr val="2E82C2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587378" y="0"/>
            <a:ext cx="1664970" cy="9144000"/>
          </a:xfrm>
          <a:custGeom>
            <a:avLst/>
            <a:gdLst/>
            <a:ahLst/>
            <a:cxnLst/>
            <a:rect l="l" t="t" r="r" b="b"/>
            <a:pathLst>
              <a:path w="1664969" h="9144000">
                <a:moveTo>
                  <a:pt x="1664634" y="9143999"/>
                </a:moveTo>
                <a:lnTo>
                  <a:pt x="1477351" y="9143999"/>
                </a:lnTo>
                <a:lnTo>
                  <a:pt x="0" y="0"/>
                </a:lnTo>
                <a:lnTo>
                  <a:pt x="1664634" y="0"/>
                </a:lnTo>
                <a:lnTo>
                  <a:pt x="1664634" y="9143999"/>
                </a:lnTo>
                <a:close/>
              </a:path>
            </a:pathLst>
          </a:custGeom>
          <a:solidFill>
            <a:srgbClr val="216191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3829098" y="4786562"/>
            <a:ext cx="2423160" cy="4358005"/>
          </a:xfrm>
          <a:custGeom>
            <a:avLst/>
            <a:gdLst/>
            <a:ahLst/>
            <a:cxnLst/>
            <a:rect l="l" t="t" r="r" b="b"/>
            <a:pathLst>
              <a:path w="2423159" h="4358005">
                <a:moveTo>
                  <a:pt x="2422906" y="4357623"/>
                </a:moveTo>
                <a:lnTo>
                  <a:pt x="0" y="4357623"/>
                </a:lnTo>
                <a:lnTo>
                  <a:pt x="2422906" y="0"/>
                </a:lnTo>
                <a:lnTo>
                  <a:pt x="2422906" y="4357623"/>
                </a:lnTo>
                <a:close/>
              </a:path>
            </a:pathLst>
          </a:custGeom>
          <a:solidFill>
            <a:srgbClr val="17AEE3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5351014"/>
            <a:ext cx="598805" cy="3793490"/>
          </a:xfrm>
          <a:custGeom>
            <a:avLst/>
            <a:gdLst/>
            <a:ahLst/>
            <a:cxnLst/>
            <a:rect l="l" t="t" r="r" b="b"/>
            <a:pathLst>
              <a:path w="598805" h="3793490">
                <a:moveTo>
                  <a:pt x="598297" y="3793109"/>
                </a:moveTo>
                <a:lnTo>
                  <a:pt x="0" y="3793109"/>
                </a:lnTo>
                <a:lnTo>
                  <a:pt x="0" y="0"/>
                </a:lnTo>
                <a:lnTo>
                  <a:pt x="598297" y="3793109"/>
                </a:lnTo>
                <a:close/>
              </a:path>
            </a:pathLst>
          </a:custGeom>
          <a:solidFill>
            <a:srgbClr val="5ECBEF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7100" y="383246"/>
            <a:ext cx="14401800" cy="3290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8600" y="2412682"/>
            <a:ext cx="8385175" cy="4239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40404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024100" y="8633618"/>
            <a:ext cx="30353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E946A"/>
                </a:solidFill>
                <a:latin typeface="Roboto"/>
                <a:cs typeface="Roboto"/>
              </a:defRPr>
            </a:lvl1pPr>
          </a:lstStyle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51100" y="8583612"/>
            <a:ext cx="9842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385" dirty="0">
                <a:solidFill>
                  <a:srgbClr val="2E946A"/>
                </a:solidFill>
                <a:latin typeface="Roboto"/>
                <a:cs typeface="Roboto"/>
              </a:rPr>
              <a:t>1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7093" y="1468430"/>
            <a:ext cx="2332355" cy="1788795"/>
            <a:chOff x="987093" y="1468430"/>
            <a:chExt cx="2332355" cy="1788795"/>
          </a:xfrm>
        </p:grpSpPr>
        <p:sp>
          <p:nvSpPr>
            <p:cNvPr id="5" name="object 5"/>
            <p:cNvSpPr/>
            <p:nvPr/>
          </p:nvSpPr>
          <p:spPr>
            <a:xfrm>
              <a:off x="987093" y="1843773"/>
              <a:ext cx="1639570" cy="1413510"/>
            </a:xfrm>
            <a:custGeom>
              <a:avLst/>
              <a:gdLst/>
              <a:ahLst/>
              <a:cxnLst/>
              <a:rect l="l" t="t" r="r" b="b"/>
              <a:pathLst>
                <a:path w="1639570" h="1413510">
                  <a:moveTo>
                    <a:pt x="1229613" y="1413255"/>
                  </a:moveTo>
                  <a:lnTo>
                    <a:pt x="409828" y="1413255"/>
                  </a:lnTo>
                  <a:lnTo>
                    <a:pt x="0" y="706627"/>
                  </a:lnTo>
                  <a:lnTo>
                    <a:pt x="409828" y="0"/>
                  </a:lnTo>
                  <a:lnTo>
                    <a:pt x="1229613" y="0"/>
                  </a:lnTo>
                  <a:lnTo>
                    <a:pt x="1639442" y="706627"/>
                  </a:lnTo>
                  <a:lnTo>
                    <a:pt x="1229613" y="1413255"/>
                  </a:lnTo>
                  <a:close/>
                </a:path>
              </a:pathLst>
            </a:custGeom>
            <a:solidFill>
              <a:srgbClr val="5ECB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0488" y="1468430"/>
              <a:ext cx="869315" cy="749300"/>
            </a:xfrm>
            <a:custGeom>
              <a:avLst/>
              <a:gdLst/>
              <a:ahLst/>
              <a:cxnLst/>
              <a:rect l="l" t="t" r="r" b="b"/>
              <a:pathLst>
                <a:path w="869314" h="749300">
                  <a:moveTo>
                    <a:pt x="651637" y="749045"/>
                  </a:moveTo>
                  <a:lnTo>
                    <a:pt x="217170" y="749045"/>
                  </a:lnTo>
                  <a:lnTo>
                    <a:pt x="0" y="374523"/>
                  </a:lnTo>
                  <a:lnTo>
                    <a:pt x="217170" y="0"/>
                  </a:lnTo>
                  <a:lnTo>
                    <a:pt x="651637" y="0"/>
                  </a:lnTo>
                  <a:lnTo>
                    <a:pt x="868807" y="374523"/>
                  </a:lnTo>
                  <a:lnTo>
                    <a:pt x="651637" y="749045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006783" y="1592850"/>
            <a:ext cx="2221865" cy="1915160"/>
          </a:xfrm>
          <a:custGeom>
            <a:avLst/>
            <a:gdLst/>
            <a:ahLst/>
            <a:cxnLst/>
            <a:rect l="l" t="t" r="r" b="b"/>
            <a:pathLst>
              <a:path w="2221865" h="1915160">
                <a:moveTo>
                  <a:pt x="1666239" y="1915159"/>
                </a:moveTo>
                <a:lnTo>
                  <a:pt x="555371" y="1915159"/>
                </a:lnTo>
                <a:lnTo>
                  <a:pt x="0" y="957579"/>
                </a:lnTo>
                <a:lnTo>
                  <a:pt x="555371" y="0"/>
                </a:lnTo>
                <a:lnTo>
                  <a:pt x="1666239" y="0"/>
                </a:lnTo>
                <a:lnTo>
                  <a:pt x="2221610" y="957579"/>
                </a:lnTo>
                <a:lnTo>
                  <a:pt x="1666239" y="1915159"/>
                </a:lnTo>
                <a:close/>
              </a:path>
            </a:pathLst>
          </a:custGeom>
          <a:solidFill>
            <a:srgbClr val="41D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73402" y="6977683"/>
            <a:ext cx="958215" cy="826135"/>
          </a:xfrm>
          <a:custGeom>
            <a:avLst/>
            <a:gdLst/>
            <a:ahLst/>
            <a:cxnLst/>
            <a:rect l="l" t="t" r="r" b="b"/>
            <a:pathLst>
              <a:path w="958214" h="826134">
                <a:moveTo>
                  <a:pt x="718312" y="825627"/>
                </a:moveTo>
                <a:lnTo>
                  <a:pt x="239395" y="825627"/>
                </a:lnTo>
                <a:lnTo>
                  <a:pt x="0" y="412750"/>
                </a:lnTo>
                <a:lnTo>
                  <a:pt x="239395" y="0"/>
                </a:lnTo>
                <a:lnTo>
                  <a:pt x="718312" y="0"/>
                </a:lnTo>
                <a:lnTo>
                  <a:pt x="957706" y="412750"/>
                </a:lnTo>
                <a:lnTo>
                  <a:pt x="718312" y="825627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51000" y="4175705"/>
            <a:ext cx="12268200" cy="1764586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Student Name: AJITHKUMAR HM</a:t>
            </a:r>
          </a:p>
          <a:p>
            <a:pPr>
              <a:defRPr sz="1300" b="0">
                <a:solidFill>
                  <a:srgbClr val="464646"/>
                </a:solidFill>
              </a:defRPr>
            </a:pPr>
            <a:r>
              <a:t>College Name: Rajeev Institute of Technology (RIT), Hassan</a:t>
            </a:r>
          </a:p>
          <a:p>
            <a:pPr>
              <a:defRPr sz="1300" b="1">
                <a:solidFill>
                  <a:srgbClr val="B43232"/>
                </a:solidFill>
              </a:defRPr>
            </a:pPr>
            <a:r>
              <a:t>AICTE STU ID : [Insert AICTE STU ID]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3084031E-F078-F312-C256-B27DC12C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98" y="60704"/>
            <a:ext cx="13830300" cy="1477328"/>
          </a:xfrm>
        </p:spPr>
        <p:txBody>
          <a:bodyPr/>
          <a:lstStyle/>
          <a:p>
            <a:pPr algn="ctr"/>
            <a:r>
              <a:rPr lang="en-IN" sz="4800" dirty="0">
                <a:latin typeface="+mj-lt"/>
              </a:rPr>
              <a:t>Project Title-  Seasonal Agriculture Performance         Analysis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55300" y="3911600"/>
            <a:ext cx="3683000" cy="4356100"/>
            <a:chOff x="10655300" y="3911600"/>
            <a:chExt cx="3683000" cy="4356100"/>
          </a:xfrm>
        </p:grpSpPr>
        <p:sp>
          <p:nvSpPr>
            <p:cNvPr id="3" name="object 3"/>
            <p:cNvSpPr/>
            <p:nvPr/>
          </p:nvSpPr>
          <p:spPr>
            <a:xfrm>
              <a:off x="12472799" y="71520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609599" y="0"/>
                  </a:lnTo>
                  <a:lnTo>
                    <a:pt x="609599" y="609600"/>
                  </a:lnTo>
                  <a:close/>
                </a:path>
              </a:pathLst>
            </a:custGeom>
            <a:solidFill>
              <a:srgbClr val="41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472799" y="7863770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29">
                  <a:moveTo>
                    <a:pt x="240030" y="240030"/>
                  </a:moveTo>
                  <a:lnTo>
                    <a:pt x="0" y="240030"/>
                  </a:lnTo>
                  <a:lnTo>
                    <a:pt x="0" y="0"/>
                  </a:lnTo>
                  <a:lnTo>
                    <a:pt x="240030" y="0"/>
                  </a:lnTo>
                  <a:lnTo>
                    <a:pt x="240030" y="240030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5300" y="3911600"/>
              <a:ext cx="3683000" cy="43561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498600" y="2412682"/>
            <a:ext cx="8385175" cy="540737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>
              <a:defRPr sz="1200" b="0">
                <a:solidFill>
                  <a:srgbClr val="282828"/>
                </a:solidFill>
              </a:defRPr>
            </a:pPr>
            <a:r>
              <a:t>Agricultural performance varies significantly across seasons due to changing environmental conditions, water availability, farming practices, and resource management. Raw agricultural records are complex, multi-dimensional, and difficult to interpret without systematic analytical workflows.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Key Challenges Addressed: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- Seasonal Volatility: Identifying performance gaps and profit risks across Kharif, Rabi, and Zaid seasons.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- Economic Vulnerability: Explaining why 49.15% (1,966 of 4,000) of farm records operate at a net financial loss.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- Resource Inefficiency: Evaluating irrigation techniques and fertilizer usage to improve water efficiency and yield outcomes.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- Decision Support: Providing reproducible data science, machine learning models, and interactive dashboard analytics for agricultural stakeholders.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104900" y="643946"/>
            <a:ext cx="9004300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PROBLEM STATEMENT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8623300"/>
            <a:ext cx="2857500" cy="254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77900" y="8631237"/>
            <a:ext cx="805180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600" spc="-75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2000" y="8631168"/>
            <a:ext cx="115379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95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6" descr="$PPTXTitle">
            <a:extLst>
              <a:ext uri="{FF2B5EF4-FFF2-40B4-BE49-F238E27FC236}">
                <a16:creationId xmlns:a16="http://schemas.microsoft.com/office/drawing/2014/main" id="{9C52FBD6-7931-8996-B9A5-4CF130444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9513" y="202461"/>
            <a:ext cx="6878320" cy="96885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6800"/>
              </a:lnSpc>
              <a:spcBef>
                <a:spcPts val="755"/>
              </a:spcBef>
            </a:pPr>
            <a:r>
              <a:rPr sz="6000" spc="-595" dirty="0">
                <a:latin typeface="+mj-lt"/>
              </a:rPr>
              <a:t>P</a:t>
            </a:r>
            <a:r>
              <a:rPr sz="6000" spc="-395" dirty="0">
                <a:latin typeface="+mj-lt"/>
              </a:rPr>
              <a:t>r</a:t>
            </a:r>
            <a:r>
              <a:rPr sz="6000" spc="-650" dirty="0">
                <a:latin typeface="+mj-lt"/>
              </a:rPr>
              <a:t>o</a:t>
            </a:r>
            <a:r>
              <a:rPr sz="6000" spc="-45" dirty="0">
                <a:latin typeface="+mj-lt"/>
              </a:rPr>
              <a:t>j</a:t>
            </a:r>
            <a:r>
              <a:rPr sz="6000" spc="-509" dirty="0">
                <a:latin typeface="+mj-lt"/>
              </a:rPr>
              <a:t>e</a:t>
            </a:r>
            <a:r>
              <a:rPr sz="6000" spc="-495" dirty="0">
                <a:latin typeface="+mj-lt"/>
              </a:rPr>
              <a:t>c</a:t>
            </a:r>
            <a:r>
              <a:rPr sz="6000" spc="-100" dirty="0">
                <a:latin typeface="+mj-lt"/>
              </a:rPr>
              <a:t>t</a:t>
            </a:r>
            <a:r>
              <a:rPr sz="6000" spc="-620" dirty="0">
                <a:latin typeface="+mj-lt"/>
              </a:rPr>
              <a:t> </a:t>
            </a:r>
            <a:r>
              <a:rPr sz="6000" spc="-690" dirty="0">
                <a:latin typeface="+mj-lt"/>
              </a:rPr>
              <a:t>D</a:t>
            </a:r>
            <a:r>
              <a:rPr sz="6000" spc="-685" dirty="0">
                <a:latin typeface="+mj-lt"/>
              </a:rPr>
              <a:t>e</a:t>
            </a:r>
            <a:r>
              <a:rPr sz="6000" spc="-580" dirty="0">
                <a:latin typeface="+mj-lt"/>
              </a:rPr>
              <a:t>s</a:t>
            </a:r>
            <a:r>
              <a:rPr sz="6000" spc="-570" dirty="0">
                <a:latin typeface="+mj-lt"/>
              </a:rPr>
              <a:t>c</a:t>
            </a:r>
            <a:r>
              <a:rPr sz="6000" spc="-470" dirty="0">
                <a:latin typeface="+mj-lt"/>
              </a:rPr>
              <a:t>r</a:t>
            </a:r>
            <a:r>
              <a:rPr sz="6000" spc="-170" dirty="0">
                <a:latin typeface="+mj-lt"/>
              </a:rPr>
              <a:t>i</a:t>
            </a:r>
            <a:r>
              <a:rPr sz="6000" spc="-595" dirty="0">
                <a:latin typeface="+mj-lt"/>
              </a:rPr>
              <a:t>p</a:t>
            </a:r>
            <a:r>
              <a:rPr sz="6000" spc="-610" dirty="0">
                <a:latin typeface="+mj-lt"/>
              </a:rPr>
              <a:t>t</a:t>
            </a:r>
            <a:r>
              <a:rPr sz="6000" spc="-70" dirty="0">
                <a:latin typeface="+mj-lt"/>
              </a:rPr>
              <a:t>i</a:t>
            </a:r>
            <a:r>
              <a:rPr sz="6000" spc="-620" dirty="0">
                <a:latin typeface="+mj-lt"/>
              </a:rPr>
              <a:t>o</a:t>
            </a:r>
            <a:r>
              <a:rPr sz="6000" spc="-175" dirty="0">
                <a:latin typeface="+mj-lt"/>
              </a:rPr>
              <a:t>n</a:t>
            </a:r>
            <a:r>
              <a:rPr sz="6000" spc="-480" dirty="0">
                <a:latin typeface="+mj-lt"/>
              </a:rPr>
              <a:t> </a:t>
            </a:r>
            <a:r>
              <a:rPr lang="en-IN" sz="6000" spc="-480" dirty="0">
                <a:latin typeface="+mj-lt"/>
              </a:rPr>
              <a:t>:</a:t>
            </a:r>
            <a:endParaRPr sz="6000" spc="-409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442DF-EE0C-1C34-EE96-E27AB1CFF32A}"/>
              </a:ext>
            </a:extLst>
          </p:cNvPr>
          <p:cNvSpPr txBox="1"/>
          <p:nvPr/>
        </p:nvSpPr>
        <p:spPr>
          <a:xfrm>
            <a:off x="508000" y="1752600"/>
            <a:ext cx="11734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Seasonal Agriculture Performance Analysis is a data analytics project based on 4,000 farm records and 28 attributes.</a:t>
            </a:r>
          </a:p>
          <a:p>
            <a:endParaRPr lang="en-US" dirty="0"/>
          </a:p>
          <a:p>
            <a:r>
              <a:rPr lang="en-US" dirty="0"/>
              <a:t>The project follows a structured analytical workflow:</a:t>
            </a:r>
          </a:p>
          <a:p>
            <a:endParaRPr lang="en-US" dirty="0"/>
          </a:p>
          <a:p>
            <a:r>
              <a:rPr lang="en-US" dirty="0"/>
              <a:t>Data Preparation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Exploratory Data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Seasonal &amp; Crop Comparison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Resource &amp; Environmental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Statistical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Machine Learning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Insights &amp; Recommendations</a:t>
            </a:r>
          </a:p>
          <a:p>
            <a:endParaRPr lang="en-US" dirty="0"/>
          </a:p>
          <a:p>
            <a:r>
              <a:rPr lang="en-US" dirty="0"/>
              <a:t>Main Focus:</a:t>
            </a:r>
          </a:p>
          <a:p>
            <a:r>
              <a:rPr lang="en-US" dirty="0"/>
              <a:t>Understanding how season, crop, environmental conditions, resource usage and economic factors are associated with agricultural performance.</a:t>
            </a:r>
            <a:endParaRPr lang="en-IN" dirty="0"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F0B1A031-0BDE-BA42-AAE6-B2CD431906E2}"/>
              </a:ext>
            </a:extLst>
          </p:cNvPr>
          <p:cNvSpPr/>
          <p:nvPr/>
        </p:nvSpPr>
        <p:spPr>
          <a:xfrm>
            <a:off x="11483965" y="75112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E65C06FE-BA3D-47F0-6682-433915F3788E}"/>
              </a:ext>
            </a:extLst>
          </p:cNvPr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DBBFD03B-2E28-C23C-C1F0-50D90FCE88E4}"/>
              </a:ext>
            </a:extLst>
          </p:cNvPr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523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435190" y="303859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6961" y="-10886"/>
            <a:ext cx="14401800" cy="1357199"/>
          </a:xfrm>
          <a:prstGeom prst="rect">
            <a:avLst/>
          </a:prstGeom>
        </p:spPr>
        <p:txBody>
          <a:bodyPr vert="horz" wrap="square" lIns="0" tIns="734473" rIns="0" bIns="0" rtlCol="0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WHO ARE THE END USERS?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8229600"/>
            <a:ext cx="2908300" cy="6477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77900" y="8631237"/>
            <a:ext cx="805180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600" spc="-75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2000" y="8631168"/>
            <a:ext cx="115379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95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1639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A0DBE-3989-62B7-5FDE-B96E1E4C772E}"/>
              </a:ext>
            </a:extLst>
          </p:cNvPr>
          <p:cNvSpPr txBox="1"/>
          <p:nvPr/>
        </p:nvSpPr>
        <p:spPr>
          <a:xfrm>
            <a:off x="749410" y="2029086"/>
            <a:ext cx="11112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1. Farmers &amp; Agricultural Producers: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Gain actionable insights into crop-season selection, optimal irrigation strategies, and financial risk mitigation.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2. Agricultural Policy Makers &amp; Government Agencies: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Evaluate seasonal productivity trends, regional yield disparities, and water resource utilization to design targeted agricultural subsidies.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3. Agricultural Extension Officers &amp; Agronomists: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Utilize statistical evidence and predictive models to advise farmers on input optimization (fertilizers, pesticides) and pest risk reduction.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4. Data Scientists &amp; Agricultural Researchers: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Access a clean, open-source analytical framework for multi-variate agricultural modeling and seasonal benchmarking.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887807" y="-12700"/>
            <a:ext cx="6377305" cy="9170035"/>
            <a:chOff x="9887807" y="-12700"/>
            <a:chExt cx="6377305" cy="9170035"/>
          </a:xfrm>
        </p:grpSpPr>
        <p:sp>
          <p:nvSpPr>
            <p:cNvPr id="4" name="object 4"/>
            <p:cNvSpPr/>
            <p:nvPr/>
          </p:nvSpPr>
          <p:spPr>
            <a:xfrm>
              <a:off x="9900507" y="0"/>
              <a:ext cx="6351905" cy="9144635"/>
            </a:xfrm>
            <a:custGeom>
              <a:avLst/>
              <a:gdLst/>
              <a:ahLst/>
              <a:cxnLst/>
              <a:rect l="l" t="t" r="r" b="b"/>
              <a:pathLst>
                <a:path w="6351905" h="9144635">
                  <a:moveTo>
                    <a:pt x="2594365" y="0"/>
                  </a:moveTo>
                  <a:lnTo>
                    <a:pt x="4219990" y="9144138"/>
                  </a:lnTo>
                </a:path>
                <a:path w="6351905" h="9144635">
                  <a:moveTo>
                    <a:pt x="6351508" y="4908625"/>
                  </a:moveTo>
                  <a:lnTo>
                    <a:pt x="0" y="9144139"/>
                  </a:lnTo>
                </a:path>
              </a:pathLst>
            </a:custGeom>
            <a:ln w="25400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42195" y="0"/>
              <a:ext cx="4010025" cy="9144000"/>
            </a:xfrm>
            <a:custGeom>
              <a:avLst/>
              <a:gdLst/>
              <a:ahLst/>
              <a:cxnLst/>
              <a:rect l="l" t="t" r="r" b="b"/>
              <a:pathLst>
                <a:path w="4010025" h="9144000">
                  <a:moveTo>
                    <a:pt x="4009818" y="9143999"/>
                  </a:moveTo>
                  <a:lnTo>
                    <a:pt x="0" y="9143999"/>
                  </a:lnTo>
                  <a:lnTo>
                    <a:pt x="2724012" y="0"/>
                  </a:lnTo>
                  <a:lnTo>
                    <a:pt x="4009818" y="0"/>
                  </a:lnTo>
                  <a:lnTo>
                    <a:pt x="4009818" y="9143999"/>
                  </a:lnTo>
                  <a:close/>
                </a:path>
              </a:pathLst>
            </a:custGeom>
            <a:solidFill>
              <a:srgbClr val="5ECBEF">
                <a:alpha val="35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06772" y="0"/>
              <a:ext cx="3449320" cy="9144000"/>
            </a:xfrm>
            <a:custGeom>
              <a:avLst/>
              <a:gdLst/>
              <a:ahLst/>
              <a:cxnLst/>
              <a:rect l="l" t="t" r="r" b="b"/>
              <a:pathLst>
                <a:path w="3449319" h="9144000">
                  <a:moveTo>
                    <a:pt x="3449227" y="9144000"/>
                  </a:moveTo>
                  <a:lnTo>
                    <a:pt x="1610625" y="9144000"/>
                  </a:lnTo>
                  <a:lnTo>
                    <a:pt x="0" y="0"/>
                  </a:lnTo>
                  <a:lnTo>
                    <a:pt x="3449227" y="0"/>
                  </a:lnTo>
                  <a:lnTo>
                    <a:pt x="3449227" y="9144000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09959" y="4064062"/>
              <a:ext cx="4346575" cy="5080635"/>
            </a:xfrm>
            <a:custGeom>
              <a:avLst/>
              <a:gdLst/>
              <a:ahLst/>
              <a:cxnLst/>
              <a:rect l="l" t="t" r="r" b="b"/>
              <a:pathLst>
                <a:path w="4346575" h="5080634">
                  <a:moveTo>
                    <a:pt x="4346321" y="5080127"/>
                  </a:moveTo>
                  <a:lnTo>
                    <a:pt x="0" y="5080127"/>
                  </a:lnTo>
                  <a:lnTo>
                    <a:pt x="4346321" y="0"/>
                  </a:lnTo>
                  <a:lnTo>
                    <a:pt x="4346321" y="5080127"/>
                  </a:lnTo>
                  <a:close/>
                </a:path>
              </a:pathLst>
            </a:custGeom>
            <a:solidFill>
              <a:srgbClr val="17AEE3">
                <a:alpha val="6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450252" y="0"/>
              <a:ext cx="3802379" cy="9144000"/>
            </a:xfrm>
            <a:custGeom>
              <a:avLst/>
              <a:gdLst/>
              <a:ahLst/>
              <a:cxnLst/>
              <a:rect l="l" t="t" r="r" b="b"/>
              <a:pathLst>
                <a:path w="3802380" h="9144000">
                  <a:moveTo>
                    <a:pt x="3801763" y="9143999"/>
                  </a:moveTo>
                  <a:lnTo>
                    <a:pt x="3290271" y="9143999"/>
                  </a:lnTo>
                  <a:lnTo>
                    <a:pt x="0" y="0"/>
                  </a:lnTo>
                  <a:lnTo>
                    <a:pt x="3801763" y="0"/>
                  </a:lnTo>
                  <a:lnTo>
                    <a:pt x="3801763" y="9143999"/>
                  </a:lnTo>
                  <a:close/>
                </a:path>
              </a:pathLst>
            </a:custGeom>
            <a:solidFill>
              <a:srgbClr val="17AEE3">
                <a:alpha val="497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31880" y="0"/>
              <a:ext cx="1720214" cy="9144000"/>
            </a:xfrm>
            <a:custGeom>
              <a:avLst/>
              <a:gdLst/>
              <a:ahLst/>
              <a:cxnLst/>
              <a:rect l="l" t="t" r="r" b="b"/>
              <a:pathLst>
                <a:path w="1720215" h="9144000">
                  <a:moveTo>
                    <a:pt x="1720131" y="9143999"/>
                  </a:moveTo>
                  <a:lnTo>
                    <a:pt x="0" y="9143999"/>
                  </a:lnTo>
                  <a:lnTo>
                    <a:pt x="1357970" y="0"/>
                  </a:lnTo>
                  <a:lnTo>
                    <a:pt x="1720131" y="0"/>
                  </a:lnTo>
                  <a:lnTo>
                    <a:pt x="1720131" y="9143999"/>
                  </a:lnTo>
                  <a:close/>
                </a:path>
              </a:pathLst>
            </a:custGeom>
            <a:solidFill>
              <a:srgbClr val="2E82C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587378" y="0"/>
              <a:ext cx="1664970" cy="9144000"/>
            </a:xfrm>
            <a:custGeom>
              <a:avLst/>
              <a:gdLst/>
              <a:ahLst/>
              <a:cxnLst/>
              <a:rect l="l" t="t" r="r" b="b"/>
              <a:pathLst>
                <a:path w="1664969" h="9144000">
                  <a:moveTo>
                    <a:pt x="1664634" y="9143999"/>
                  </a:moveTo>
                  <a:lnTo>
                    <a:pt x="1477351" y="9143999"/>
                  </a:lnTo>
                  <a:lnTo>
                    <a:pt x="0" y="0"/>
                  </a:lnTo>
                  <a:lnTo>
                    <a:pt x="1664634" y="0"/>
                  </a:lnTo>
                  <a:lnTo>
                    <a:pt x="1664634" y="9143999"/>
                  </a:lnTo>
                  <a:close/>
                </a:path>
              </a:pathLst>
            </a:custGeom>
            <a:solidFill>
              <a:srgbClr val="21619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29098" y="4786562"/>
              <a:ext cx="2423160" cy="4358005"/>
            </a:xfrm>
            <a:custGeom>
              <a:avLst/>
              <a:gdLst/>
              <a:ahLst/>
              <a:cxnLst/>
              <a:rect l="l" t="t" r="r" b="b"/>
              <a:pathLst>
                <a:path w="2423159" h="4358005">
                  <a:moveTo>
                    <a:pt x="2422906" y="4357623"/>
                  </a:moveTo>
                  <a:lnTo>
                    <a:pt x="0" y="4357623"/>
                  </a:lnTo>
                  <a:lnTo>
                    <a:pt x="2422906" y="0"/>
                  </a:lnTo>
                  <a:lnTo>
                    <a:pt x="2422906" y="4357623"/>
                  </a:lnTo>
                  <a:close/>
                </a:path>
              </a:pathLst>
            </a:custGeom>
            <a:solidFill>
              <a:srgbClr val="17AEE3">
                <a:alpha val="6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5351014"/>
            <a:ext cx="598805" cy="3793490"/>
          </a:xfrm>
          <a:custGeom>
            <a:avLst/>
            <a:gdLst/>
            <a:ahLst/>
            <a:cxnLst/>
            <a:rect l="l" t="t" r="r" b="b"/>
            <a:pathLst>
              <a:path w="598805" h="3793490">
                <a:moveTo>
                  <a:pt x="598297" y="3793109"/>
                </a:moveTo>
                <a:lnTo>
                  <a:pt x="0" y="3793109"/>
                </a:lnTo>
                <a:lnTo>
                  <a:pt x="0" y="0"/>
                </a:lnTo>
                <a:lnTo>
                  <a:pt x="598297" y="3793109"/>
                </a:lnTo>
                <a:close/>
              </a:path>
            </a:pathLst>
          </a:custGeom>
          <a:solidFill>
            <a:srgbClr val="5ECBEF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17250" y="591026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482599"/>
                </a:moveTo>
                <a:lnTo>
                  <a:pt x="192669" y="477697"/>
                </a:lnTo>
                <a:lnTo>
                  <a:pt x="147375" y="463637"/>
                </a:lnTo>
                <a:lnTo>
                  <a:pt x="106386" y="441389"/>
                </a:lnTo>
                <a:lnTo>
                  <a:pt x="70675" y="411924"/>
                </a:lnTo>
                <a:lnTo>
                  <a:pt x="41210" y="376213"/>
                </a:lnTo>
                <a:lnTo>
                  <a:pt x="18962" y="335224"/>
                </a:lnTo>
                <a:lnTo>
                  <a:pt x="4902" y="289930"/>
                </a:lnTo>
                <a:lnTo>
                  <a:pt x="0" y="241299"/>
                </a:lnTo>
                <a:lnTo>
                  <a:pt x="4902" y="192669"/>
                </a:lnTo>
                <a:lnTo>
                  <a:pt x="18962" y="147375"/>
                </a:lnTo>
                <a:lnTo>
                  <a:pt x="41210" y="106386"/>
                </a:lnTo>
                <a:lnTo>
                  <a:pt x="70675" y="70675"/>
                </a:lnTo>
                <a:lnTo>
                  <a:pt x="106386" y="41210"/>
                </a:lnTo>
                <a:lnTo>
                  <a:pt x="147375" y="18962"/>
                </a:lnTo>
                <a:lnTo>
                  <a:pt x="192669" y="4902"/>
                </a:lnTo>
                <a:lnTo>
                  <a:pt x="241300" y="0"/>
                </a:lnTo>
                <a:lnTo>
                  <a:pt x="289930" y="4902"/>
                </a:lnTo>
                <a:lnTo>
                  <a:pt x="335224" y="18962"/>
                </a:lnTo>
                <a:lnTo>
                  <a:pt x="376213" y="41210"/>
                </a:lnTo>
                <a:lnTo>
                  <a:pt x="411924" y="70675"/>
                </a:lnTo>
                <a:lnTo>
                  <a:pt x="441389" y="106386"/>
                </a:lnTo>
                <a:lnTo>
                  <a:pt x="463637" y="147375"/>
                </a:lnTo>
                <a:lnTo>
                  <a:pt x="477697" y="192669"/>
                </a:lnTo>
                <a:lnTo>
                  <a:pt x="482600" y="241299"/>
                </a:lnTo>
                <a:lnTo>
                  <a:pt x="477697" y="289930"/>
                </a:lnTo>
                <a:lnTo>
                  <a:pt x="463637" y="335224"/>
                </a:lnTo>
                <a:lnTo>
                  <a:pt x="441389" y="376213"/>
                </a:lnTo>
                <a:lnTo>
                  <a:pt x="411924" y="411924"/>
                </a:lnTo>
                <a:lnTo>
                  <a:pt x="376213" y="441389"/>
                </a:lnTo>
                <a:lnTo>
                  <a:pt x="335224" y="463637"/>
                </a:lnTo>
                <a:lnTo>
                  <a:pt x="289930" y="477697"/>
                </a:lnTo>
                <a:lnTo>
                  <a:pt x="241300" y="482599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676552" y="7474772"/>
            <a:ext cx="872490" cy="872490"/>
          </a:xfrm>
          <a:custGeom>
            <a:avLst/>
            <a:gdLst/>
            <a:ahLst/>
            <a:cxnLst/>
            <a:rect l="l" t="t" r="r" b="b"/>
            <a:pathLst>
              <a:path w="872490" h="872490">
                <a:moveTo>
                  <a:pt x="436117" y="872363"/>
                </a:moveTo>
                <a:lnTo>
                  <a:pt x="388597" y="869803"/>
                </a:lnTo>
                <a:lnTo>
                  <a:pt x="342560" y="862301"/>
                </a:lnTo>
                <a:lnTo>
                  <a:pt x="298270" y="850122"/>
                </a:lnTo>
                <a:lnTo>
                  <a:pt x="255995" y="833534"/>
                </a:lnTo>
                <a:lnTo>
                  <a:pt x="216000" y="812802"/>
                </a:lnTo>
                <a:lnTo>
                  <a:pt x="178552" y="788193"/>
                </a:lnTo>
                <a:lnTo>
                  <a:pt x="143916" y="759971"/>
                </a:lnTo>
                <a:lnTo>
                  <a:pt x="112358" y="728404"/>
                </a:lnTo>
                <a:lnTo>
                  <a:pt x="84145" y="693758"/>
                </a:lnTo>
                <a:lnTo>
                  <a:pt x="59542" y="656299"/>
                </a:lnTo>
                <a:lnTo>
                  <a:pt x="38816" y="616292"/>
                </a:lnTo>
                <a:lnTo>
                  <a:pt x="22233" y="574005"/>
                </a:lnTo>
                <a:lnTo>
                  <a:pt x="10058" y="529702"/>
                </a:lnTo>
                <a:lnTo>
                  <a:pt x="2559" y="483651"/>
                </a:lnTo>
                <a:lnTo>
                  <a:pt x="0" y="436118"/>
                </a:lnTo>
                <a:lnTo>
                  <a:pt x="2559" y="388598"/>
                </a:lnTo>
                <a:lnTo>
                  <a:pt x="10058" y="342560"/>
                </a:lnTo>
                <a:lnTo>
                  <a:pt x="22233" y="298271"/>
                </a:lnTo>
                <a:lnTo>
                  <a:pt x="38816" y="255996"/>
                </a:lnTo>
                <a:lnTo>
                  <a:pt x="59542" y="216001"/>
                </a:lnTo>
                <a:lnTo>
                  <a:pt x="84145" y="178552"/>
                </a:lnTo>
                <a:lnTo>
                  <a:pt x="112358" y="143916"/>
                </a:lnTo>
                <a:lnTo>
                  <a:pt x="143916" y="112358"/>
                </a:lnTo>
                <a:lnTo>
                  <a:pt x="178552" y="84145"/>
                </a:lnTo>
                <a:lnTo>
                  <a:pt x="216000" y="59542"/>
                </a:lnTo>
                <a:lnTo>
                  <a:pt x="255995" y="38816"/>
                </a:lnTo>
                <a:lnTo>
                  <a:pt x="298270" y="22233"/>
                </a:lnTo>
                <a:lnTo>
                  <a:pt x="342560" y="10058"/>
                </a:lnTo>
                <a:lnTo>
                  <a:pt x="388597" y="2559"/>
                </a:lnTo>
                <a:lnTo>
                  <a:pt x="436117" y="0"/>
                </a:lnTo>
                <a:lnTo>
                  <a:pt x="483651" y="2559"/>
                </a:lnTo>
                <a:lnTo>
                  <a:pt x="529702" y="10058"/>
                </a:lnTo>
                <a:lnTo>
                  <a:pt x="574004" y="22233"/>
                </a:lnTo>
                <a:lnTo>
                  <a:pt x="616292" y="38816"/>
                </a:lnTo>
                <a:lnTo>
                  <a:pt x="656298" y="59542"/>
                </a:lnTo>
                <a:lnTo>
                  <a:pt x="693757" y="84145"/>
                </a:lnTo>
                <a:lnTo>
                  <a:pt x="728404" y="112358"/>
                </a:lnTo>
                <a:lnTo>
                  <a:pt x="759970" y="143916"/>
                </a:lnTo>
                <a:lnTo>
                  <a:pt x="788192" y="178552"/>
                </a:lnTo>
                <a:lnTo>
                  <a:pt x="812802" y="216001"/>
                </a:lnTo>
                <a:lnTo>
                  <a:pt x="833534" y="255996"/>
                </a:lnTo>
                <a:lnTo>
                  <a:pt x="850122" y="298271"/>
                </a:lnTo>
                <a:lnTo>
                  <a:pt x="862300" y="342560"/>
                </a:lnTo>
                <a:lnTo>
                  <a:pt x="869802" y="388598"/>
                </a:lnTo>
                <a:lnTo>
                  <a:pt x="872362" y="436118"/>
                </a:lnTo>
                <a:lnTo>
                  <a:pt x="869802" y="483651"/>
                </a:lnTo>
                <a:lnTo>
                  <a:pt x="862300" y="529702"/>
                </a:lnTo>
                <a:lnTo>
                  <a:pt x="850122" y="574005"/>
                </a:lnTo>
                <a:lnTo>
                  <a:pt x="833534" y="616292"/>
                </a:lnTo>
                <a:lnTo>
                  <a:pt x="812802" y="656299"/>
                </a:lnTo>
                <a:lnTo>
                  <a:pt x="788192" y="693758"/>
                </a:lnTo>
                <a:lnTo>
                  <a:pt x="759970" y="728404"/>
                </a:lnTo>
                <a:lnTo>
                  <a:pt x="728404" y="759971"/>
                </a:lnTo>
                <a:lnTo>
                  <a:pt x="693757" y="788193"/>
                </a:lnTo>
                <a:lnTo>
                  <a:pt x="656298" y="812802"/>
                </a:lnTo>
                <a:lnTo>
                  <a:pt x="616292" y="833534"/>
                </a:lnTo>
                <a:lnTo>
                  <a:pt x="574004" y="850122"/>
                </a:lnTo>
                <a:lnTo>
                  <a:pt x="529702" y="862301"/>
                </a:lnTo>
                <a:lnTo>
                  <a:pt x="483651" y="869803"/>
                </a:lnTo>
                <a:lnTo>
                  <a:pt x="436117" y="872363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245271" y="8176710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80" h="335279">
                <a:moveTo>
                  <a:pt x="167386" y="334898"/>
                </a:moveTo>
                <a:lnTo>
                  <a:pt x="122888" y="328915"/>
                </a:lnTo>
                <a:lnTo>
                  <a:pt x="82903" y="312028"/>
                </a:lnTo>
                <a:lnTo>
                  <a:pt x="49026" y="285835"/>
                </a:lnTo>
                <a:lnTo>
                  <a:pt x="22853" y="251932"/>
                </a:lnTo>
                <a:lnTo>
                  <a:pt x="5979" y="211917"/>
                </a:lnTo>
                <a:lnTo>
                  <a:pt x="0" y="167385"/>
                </a:lnTo>
                <a:lnTo>
                  <a:pt x="5979" y="122888"/>
                </a:lnTo>
                <a:lnTo>
                  <a:pt x="22853" y="82903"/>
                </a:lnTo>
                <a:lnTo>
                  <a:pt x="49026" y="49026"/>
                </a:lnTo>
                <a:lnTo>
                  <a:pt x="82903" y="22853"/>
                </a:lnTo>
                <a:lnTo>
                  <a:pt x="122888" y="5979"/>
                </a:lnTo>
                <a:lnTo>
                  <a:pt x="167386" y="0"/>
                </a:lnTo>
                <a:lnTo>
                  <a:pt x="211917" y="5979"/>
                </a:lnTo>
                <a:lnTo>
                  <a:pt x="251932" y="22853"/>
                </a:lnTo>
                <a:lnTo>
                  <a:pt x="285835" y="49026"/>
                </a:lnTo>
                <a:lnTo>
                  <a:pt x="312028" y="82903"/>
                </a:lnTo>
                <a:lnTo>
                  <a:pt x="328915" y="122888"/>
                </a:lnTo>
                <a:lnTo>
                  <a:pt x="334898" y="167385"/>
                </a:lnTo>
                <a:lnTo>
                  <a:pt x="328915" y="211917"/>
                </a:lnTo>
                <a:lnTo>
                  <a:pt x="312028" y="251932"/>
                </a:lnTo>
                <a:lnTo>
                  <a:pt x="285835" y="285835"/>
                </a:lnTo>
                <a:lnTo>
                  <a:pt x="251932" y="312028"/>
                </a:lnTo>
                <a:lnTo>
                  <a:pt x="211917" y="328915"/>
                </a:lnTo>
                <a:lnTo>
                  <a:pt x="167386" y="334898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96975" y="1009842"/>
            <a:ext cx="5511800" cy="4013200"/>
            <a:chOff x="50800" y="5092700"/>
            <a:chExt cx="5511800" cy="40132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300" y="8547100"/>
              <a:ext cx="4940300" cy="3937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00" y="5092700"/>
              <a:ext cx="2298700" cy="4013200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4622800" y="-690975"/>
            <a:ext cx="14401800" cy="1337545"/>
          </a:xfrm>
          <a:prstGeom prst="rect">
            <a:avLst/>
          </a:prstGeom>
        </p:spPr>
        <p:txBody>
          <a:bodyPr vert="horz" wrap="square" lIns="0" tIns="105409" rIns="0" bIns="0" rtlCol="0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Technology Used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5</a:t>
            </a:fld>
            <a:r>
              <a:rPr dirty="0"/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844113-D453-9532-6F33-0E1930B134D6}"/>
              </a:ext>
            </a:extLst>
          </p:cNvPr>
          <p:cNvSpPr txBox="1"/>
          <p:nvPr/>
        </p:nvSpPr>
        <p:spPr>
          <a:xfrm>
            <a:off x="3823798" y="2031588"/>
            <a:ext cx="54611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- Programming Languages &amp; Core Stack: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Python 3.10+ (Data Science &amp; Backend), TypeScript / JavaScript (Frontend Web Application), HTML5 &amp; CSS3 / Tailwind CSS (Responsive UI).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- Data Processing &amp; Analytics: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Pandas &amp; NumPy (Data manipulation &amp; cleaning), SciPy &amp; Statsmodels (Statistical hypothesis testing &amp; ANOVA), Scikit-Learn (ML modeling).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- Data Visualization &amp; Reporting: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Matplotlib &amp; Seaborn (Exploratory visual graphics), Chart.js / Recharts (Interactive dynamic web dashboard), Jupyter Notebook.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82B49"/>
                </a:solidFill>
              </a:defRPr>
            </a:pPr>
            <a:r>
              <a:t>- Web Development &amp; Deployment: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FastAPI (High-performance asynchronous Python REST API), React.js &amp; Vite (Modern frontend component framework), Axios (HTTP API communication).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84431B-6298-58FF-17EB-0532CBD0D6A5}"/>
              </a:ext>
            </a:extLst>
          </p:cNvPr>
          <p:cNvSpPr txBox="1"/>
          <p:nvPr/>
        </p:nvSpPr>
        <p:spPr>
          <a:xfrm>
            <a:off x="9166272" y="4622019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Visualization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• Matplotlib </a:t>
            </a:r>
          </a:p>
          <a:p>
            <a:r>
              <a:rPr lang="en-IN" dirty="0"/>
              <a:t>• Seaborn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823580-AA79-9BB2-267C-66B21B0BBB5E}"/>
              </a:ext>
            </a:extLst>
          </p:cNvPr>
          <p:cNvSpPr txBox="1"/>
          <p:nvPr/>
        </p:nvSpPr>
        <p:spPr>
          <a:xfrm>
            <a:off x="3696147" y="4542619"/>
            <a:ext cx="3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Statistical Analysis </a:t>
            </a:r>
          </a:p>
          <a:p>
            <a:endParaRPr lang="en-IN" dirty="0"/>
          </a:p>
          <a:p>
            <a:r>
              <a:rPr lang="en-IN" dirty="0"/>
              <a:t>• SciPy </a:t>
            </a:r>
          </a:p>
          <a:p>
            <a:r>
              <a:rPr lang="en-IN" dirty="0"/>
              <a:t>• </a:t>
            </a:r>
            <a:r>
              <a:rPr lang="en-IN" dirty="0" err="1"/>
              <a:t>Statsmodels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302B7A-CA5D-B103-FD28-FC931D2B772C}"/>
              </a:ext>
            </a:extLst>
          </p:cNvPr>
          <p:cNvSpPr txBox="1"/>
          <p:nvPr/>
        </p:nvSpPr>
        <p:spPr>
          <a:xfrm>
            <a:off x="9031241" y="2031588"/>
            <a:ext cx="3424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Machine Learning </a:t>
            </a:r>
          </a:p>
          <a:p>
            <a:endParaRPr lang="en-IN" dirty="0"/>
          </a:p>
          <a:p>
            <a:r>
              <a:rPr lang="en-IN" dirty="0"/>
              <a:t>• Scikit-learn </a:t>
            </a:r>
          </a:p>
          <a:p>
            <a:r>
              <a:rPr lang="en-IN" dirty="0"/>
              <a:t>• Gradient Boosting </a:t>
            </a:r>
          </a:p>
          <a:p>
            <a:r>
              <a:rPr lang="en-IN" dirty="0"/>
              <a:t>• Random Forest </a:t>
            </a:r>
          </a:p>
          <a:p>
            <a:r>
              <a:rPr lang="en-IN" dirty="0"/>
              <a:t>• Linear Regression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11E62C-5C57-5307-FA9E-0C2A61B9DDB9}"/>
              </a:ext>
            </a:extLst>
          </p:cNvPr>
          <p:cNvSpPr txBox="1"/>
          <p:nvPr/>
        </p:nvSpPr>
        <p:spPr>
          <a:xfrm>
            <a:off x="6958888" y="6399089"/>
            <a:ext cx="32761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Dashboard </a:t>
            </a:r>
          </a:p>
          <a:p>
            <a:endParaRPr lang="en-IN" dirty="0"/>
          </a:p>
          <a:p>
            <a:r>
              <a:rPr lang="en-IN" dirty="0"/>
              <a:t>• React </a:t>
            </a:r>
          </a:p>
          <a:p>
            <a:r>
              <a:rPr lang="en-IN" dirty="0"/>
              <a:t>• TypeScript </a:t>
            </a:r>
          </a:p>
          <a:p>
            <a:r>
              <a:rPr lang="en-IN" dirty="0"/>
              <a:t>• Vite </a:t>
            </a:r>
          </a:p>
          <a:p>
            <a:r>
              <a:rPr lang="en-IN" dirty="0"/>
              <a:t>• Recharts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79453" y="2133600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8000" y="118174"/>
            <a:ext cx="144018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000" b="1">
                <a:solidFill>
                  <a:srgbClr val="182B49"/>
                </a:solidFill>
              </a:defRPr>
            </a:pPr>
            <a:r>
              <a:t>RESULTS: Seasonal Performance Comparison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/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58C15-C2BF-106C-0E05-4345D7DBE407}"/>
              </a:ext>
            </a:extLst>
          </p:cNvPr>
          <p:cNvSpPr txBox="1"/>
          <p:nvPr/>
        </p:nvSpPr>
        <p:spPr>
          <a:xfrm>
            <a:off x="1270000" y="1676400"/>
            <a:ext cx="105156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                                                       SEASONAL PERFORMANCE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Kharif</a:t>
            </a:r>
          </a:p>
          <a:p>
            <a:r>
              <a:rPr lang="en-IN" dirty="0"/>
              <a:t>Yield: 5.63 t/ha</a:t>
            </a:r>
          </a:p>
          <a:p>
            <a:r>
              <a:rPr lang="en-IN" dirty="0"/>
              <a:t>Profit: ₹21,881.81/ha</a:t>
            </a:r>
          </a:p>
          <a:p>
            <a:r>
              <a:rPr lang="en-IN" dirty="0"/>
              <a:t>Loss Rate: 42.21%</a:t>
            </a:r>
          </a:p>
          <a:p>
            <a:endParaRPr lang="en-IN" dirty="0"/>
          </a:p>
          <a:p>
            <a:r>
              <a:rPr lang="en-IN" dirty="0"/>
              <a:t>Rabi</a:t>
            </a:r>
          </a:p>
          <a:p>
            <a:r>
              <a:rPr lang="en-IN" dirty="0"/>
              <a:t>Yield: 5.09 t/ha</a:t>
            </a:r>
          </a:p>
          <a:p>
            <a:r>
              <a:rPr lang="en-IN" dirty="0"/>
              <a:t>Profit: ₹10,361.68/ha</a:t>
            </a:r>
          </a:p>
          <a:p>
            <a:r>
              <a:rPr lang="en-IN" dirty="0"/>
              <a:t>Loss Rate: 51.14%</a:t>
            </a:r>
          </a:p>
          <a:p>
            <a:endParaRPr lang="en-IN" dirty="0"/>
          </a:p>
          <a:p>
            <a:r>
              <a:rPr lang="en-IN" dirty="0"/>
              <a:t>Zaid</a:t>
            </a:r>
          </a:p>
          <a:p>
            <a:r>
              <a:rPr lang="en-IN" dirty="0"/>
              <a:t>Yield: 4.63 t/ha</a:t>
            </a:r>
          </a:p>
          <a:p>
            <a:r>
              <a:rPr lang="en-IN" dirty="0"/>
              <a:t>Profit: −₹2,636.52/ha</a:t>
            </a:r>
          </a:p>
          <a:p>
            <a:r>
              <a:rPr lang="en-IN" dirty="0"/>
              <a:t>Loss Rate: 64.48%</a:t>
            </a:r>
          </a:p>
          <a:p>
            <a:endParaRPr lang="en-IN" dirty="0"/>
          </a:p>
          <a:p>
            <a:r>
              <a:rPr lang="en-IN" dirty="0"/>
              <a:t>KEY FINDINGS</a:t>
            </a:r>
          </a:p>
          <a:p>
            <a:endParaRPr lang="en-IN" dirty="0"/>
          </a:p>
          <a:p>
            <a:r>
              <a:rPr lang="en-IN" dirty="0"/>
              <a:t>• Kharif shows the highest average yield and profitability.</a:t>
            </a:r>
          </a:p>
          <a:p>
            <a:r>
              <a:rPr lang="en-IN" dirty="0"/>
              <a:t>• Zaid shows the lowest average profitability.</a:t>
            </a:r>
          </a:p>
          <a:p>
            <a:r>
              <a:rPr lang="en-IN" dirty="0"/>
              <a:t>• Zaid has the highest loss rate.</a:t>
            </a:r>
          </a:p>
          <a:p>
            <a:r>
              <a:rPr lang="en-IN" dirty="0"/>
              <a:t>• 1,966 out of 4,000 farms are loss-making.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Key Findings Across 3 Growing Seasons (Kharif, Rabi, Zaid):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228B22"/>
                </a:solidFill>
              </a:defRPr>
            </a:pPr>
            <a:r>
              <a:t>- Kharif Season (Highest Productivity &amp; Profitability):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Yield: 5.63 t/ha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Net Profit: Rs. 21,881.81/ha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Financial Loss Rate: 42.21%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CC7722"/>
                </a:solidFill>
              </a:defRPr>
            </a:pPr>
            <a:r>
              <a:t>- Rabi Season (Moderate Productivity &amp; Profitability):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Yield: 5.09 t/ha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Net Profit: Rs. 10,361.68/ha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Financial Loss Rate: 51.14%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B22222"/>
                </a:solidFill>
              </a:defRPr>
            </a:pPr>
            <a:r>
              <a:t>- Zaid Season (Lowest Productivity &amp; Financial Loss):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Yield: 4.63 t/ha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Mean Net Profit: -Rs. 2,636.52/ha (Net Average Loss)</a:t>
            </a:r>
          </a:p>
          <a:p>
            <a:pPr>
              <a:defRPr sz="1100" b="0">
                <a:solidFill>
                  <a:srgbClr val="282828"/>
                </a:solidFill>
              </a:defRPr>
            </a:pPr>
            <a:r>
              <a:t>  Financial Loss Rate: 64.48% (Highest risk)</a:t>
            </a:r>
          </a:p>
        </p:txBody>
      </p:sp>
      <p:pic>
        <p:nvPicPr>
          <p:cNvPr id="11" name="Picture 10" descr="chart_slide6_s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6217920" cy="3952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xfrm>
            <a:off x="5384800" y="457200"/>
            <a:ext cx="315785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000" b="1">
                <a:solidFill>
                  <a:srgbClr val="182B49"/>
                </a:solidFill>
              </a:defRPr>
            </a:pPr>
            <a:r>
              <a:t>RESULTS: Crop-wise Performance Analysis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7</a:t>
            </a:fld>
            <a:r>
              <a:rPr dirty="0"/>
              <a:t>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1100" y="1879282"/>
            <a:ext cx="474535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/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D5D0AC-0197-91D0-CAC3-27792FE54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44" y="1842307"/>
            <a:ext cx="12535356" cy="7222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Yield and Financial Highlights Across 8 Crops:</a:t>
            </a:r>
          </a:p>
          <a:p>
            <a:pPr>
              <a:defRPr sz="400" b="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Sugarcane: Highest mean yield (12.45 t/ha) due to high biomass output, mean profit of Rs. 28,450.12/ha.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Wheat &amp; Rice: High grain yield stability (5.82 t/ha and 5.41 t/ha), moderate profit margins (~Rs. 14,200/ha).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Cotton &amp; Groundnut: Cash crops with strong profit potential under optimal weather (~Rs. 18,500/ha).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Pulses, Maize, &amp; Chilli: Lower yield per hectare but critical for crop rotation and seasonal diversification.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B43232"/>
                </a:solidFill>
              </a:defRPr>
            </a:pPr>
            <a:r>
              <a:t>Economic Insight: Yield alone does not dictate profitability; high production costs in Zaid season erode net margins despite steady crop biomass output.</a:t>
            </a:r>
          </a:p>
        </p:txBody>
      </p:sp>
      <p:pic>
        <p:nvPicPr>
          <p:cNvPr id="15" name="Picture 14" descr="chart_slide7_cr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6217920" cy="3686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xfrm>
            <a:off x="4970146" y="152400"/>
            <a:ext cx="315785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000" b="1">
                <a:solidFill>
                  <a:srgbClr val="182B49"/>
                </a:solidFill>
              </a:defRPr>
            </a:pPr>
            <a:r>
              <a:t>RESULTS: Environmental &amp; Resource Relationships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8</a:t>
            </a:fld>
            <a:r>
              <a:rPr dirty="0"/>
              <a:t>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1100" y="1879282"/>
            <a:ext cx="474535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/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78E809-7C27-6E01-9ACC-CFFCDACC4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233768"/>
            <a:ext cx="12258802" cy="77578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Correlation &amp; Resource Utilization Insights:</a:t>
            </a:r>
          </a:p>
          <a:p>
            <a:pPr>
              <a:defRPr sz="400" b="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Rainfall vs Soil Moisture: Positive Pearson correlation (r = 0.520, p &lt; 0.001), confirming soil moisture increases predictably with seasonal precipitation.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Rainfall vs Yield: Weak positive Spearman correlation (rho = 0.130, p &lt; 0.001), indicating rain alone does not guarantee high yield without proper soil and water management.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Humidity vs Pest/Disease Risk: Strong positive Spearman correlation (rho = 0.552, p &lt; 0.001), proving high humidity significantly elevates pest outbreaks.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Water Efficiency: Dataset mean water efficiency is 5.39 t/1,000 m3 of water used across all crops and seasons.</a:t>
            </a:r>
          </a:p>
        </p:txBody>
      </p:sp>
      <p:pic>
        <p:nvPicPr>
          <p:cNvPr id="13" name="Picture 12" descr="chart_slide8_e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6217920" cy="3251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xfrm>
            <a:off x="5384800" y="76200"/>
            <a:ext cx="315785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000" b="1">
                <a:solidFill>
                  <a:srgbClr val="182B49"/>
                </a:solidFill>
              </a:defRPr>
            </a:pPr>
            <a:r>
              <a:t>RESULTS: Statistical Analysis &amp; Hypothesis Testing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9</a:t>
            </a:fld>
            <a:r>
              <a:rPr dirty="0"/>
              <a:t>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1100" y="1879282"/>
            <a:ext cx="474535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/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B16B0C-646E-762A-FE80-211CC6CD9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26" y="1271864"/>
            <a:ext cx="12258802" cy="7795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Empirical Statistical Validation:</a:t>
            </a:r>
          </a:p>
          <a:p>
            <a:pPr>
              <a:defRPr sz="400" b="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Kruskal-Wallis H Test (Season vs Profit): H = 101.93, p &lt; 0.001. Rejects null hypothesis; proves profit distributions differ significantly across Kharif, Rabi, and Zaid.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- Chi-Square Test of Independence (Season vs Loss Rate): Chi-square = 92.65, p &lt; 0.001, Cramer's V = 0.152. Confirms statistically significant association between season and farm loss rates.</a:t>
            </a:r>
          </a:p>
          <a:p>
            <a:pPr>
              <a:defRPr sz="1100" b="1">
                <a:solidFill>
                  <a:srgbClr val="182B49"/>
                </a:solidFill>
              </a:defRPr>
            </a:pPr>
            <a:r>
              <a:t>- Two-Way ANOVA (Crop &amp; Season Effects on Yield):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* Crop Main Effect: F = 1378.36, p &lt; 0.001, eta_p^2 = 0.708 (Primary determinant).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* Season Main Effect: F = 43.12, p &lt; 0.001, eta_p^2 = 0.021 (Secondary determinant).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* Interaction Effect (Crop x Season): F = 3.85, p &lt; 0.001, eta_p^2 = 0.013.</a:t>
            </a:r>
          </a:p>
        </p:txBody>
      </p:sp>
      <p:pic>
        <p:nvPicPr>
          <p:cNvPr id="13" name="Picture 12" descr="chart_slide9_s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6217920" cy="3683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xfrm>
            <a:off x="5308600" y="157808"/>
            <a:ext cx="315785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defRPr sz="2000" b="1">
                <a:solidFill>
                  <a:srgbClr val="182B49"/>
                </a:solidFill>
              </a:defRPr>
            </a:pPr>
            <a:r>
              <a:t>RESULTS: Predictive Machine Learning Models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10</a:t>
            </a:fld>
            <a:r>
              <a:rPr dirty="0"/>
              <a:t>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1100" y="1879282"/>
            <a:ext cx="474535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/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22DF5E-30B6-0113-937F-422F115FD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4" y="1163043"/>
            <a:ext cx="12486003" cy="7788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Crop Yield Prediction Model Performance (Test Set Evaluation):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228B22"/>
                </a:solidFill>
              </a:defRPr>
            </a:pPr>
            <a:r>
              <a:t>- Gradient Boosting Regressor (Top Performing Model):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R2 Score: 0.9745 (Explains 97.45% of yield variance)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RMSE: 2.2181 t/ha  |  MAE: 0.7666 t/ha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182B49"/>
                </a:solidFill>
              </a:defRPr>
            </a:pPr>
            <a:r>
              <a:t>- Random Forest Regressor: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R2 Score: 0.9622  |  RMSE: 2.6997 t/ha  |  MAE: 0.7735 t/ha</a:t>
            </a:r>
          </a:p>
          <a:p>
            <a:pPr>
              <a:defRPr sz="400" b="0"/>
            </a:pPr>
          </a:p>
          <a:p>
            <a:pPr>
              <a:defRPr sz="1200" b="1">
                <a:solidFill>
                  <a:srgbClr val="646464"/>
                </a:solidFill>
              </a:defRPr>
            </a:pPr>
            <a:r>
              <a:t>- Linear Regression (Baseline Model):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R2 Score: 0.8071  |  RMSE: 6.0985 t/ha  |  MAE: 2.3194 t/ha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182B49"/>
                </a:solidFill>
              </a:defRPr>
            </a:pPr>
            <a:r>
              <a:t>Key ML Finding: Non-linear ensemble tree models capture complex environmental interaction effects far better than linear baselines.</a:t>
            </a:r>
          </a:p>
        </p:txBody>
      </p:sp>
      <p:pic>
        <p:nvPicPr>
          <p:cNvPr id="13" name="Picture 12" descr="chart_slide10_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6217920" cy="3683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77704" y="1828800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271899" y="76200"/>
            <a:ext cx="14401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Future scope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11</a:t>
            </a:fld>
            <a:r>
              <a:rPr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26758-E9A9-1E6E-5EF7-1A857682C4AD}"/>
              </a:ext>
            </a:extLst>
          </p:cNvPr>
          <p:cNvSpPr txBox="1"/>
          <p:nvPr/>
        </p:nvSpPr>
        <p:spPr>
          <a:xfrm>
            <a:off x="1422400" y="2255520"/>
            <a:ext cx="9753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Enhancements &amp; Roadmap for Expansion: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1. Real-Time IoT &amp; Weather API Integration: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Incorporate live weather forecasts and soil sensor streams for automated, dynamic yield and pest risk alerts.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2. Geographic GIS &amp; Spatial Mapping: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Expand analysis with satellite imagery (NDVI index) and geospatial mapping to visualize regional soil and moisture variations.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3. Advanced Deep Learning Models: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Deploy LSTM/Transformer temporal models for multi-year yield forecasting and climate change impact predictions.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4. Mobile Native Application: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 Build lightweight offline-first iOS/Android mobile client for direct use by field agronomists and smallholder farmers.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22856" y="2362200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03300" y="406474"/>
            <a:ext cx="32823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GitHub Link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12</a:t>
            </a:fld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8643672"/>
            <a:ext cx="21824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  <a:tabLst>
                <a:tab pos="1053465" algn="l"/>
              </a:tabLst>
            </a:pPr>
            <a:r>
              <a:rPr sz="1600" spc="-10" dirty="0">
                <a:solidFill>
                  <a:srgbClr val="2E82C2"/>
                </a:solidFill>
                <a:latin typeface="Roboto"/>
                <a:cs typeface="Roboto"/>
              </a:rPr>
              <a:t>9/7/2026</a:t>
            </a:r>
            <a:r>
              <a:rPr sz="1600" dirty="0">
                <a:solidFill>
                  <a:srgbClr val="2E82C2"/>
                </a:solidFill>
                <a:latin typeface="Roboto"/>
                <a:cs typeface="Roboto"/>
              </a:rPr>
              <a:t>	</a:t>
            </a:r>
            <a:r>
              <a:rPr sz="1600" b="1" spc="-165" dirty="0">
                <a:solidFill>
                  <a:srgbClr val="2E82C2"/>
                </a:solidFill>
                <a:latin typeface="Roboto"/>
                <a:cs typeface="Roboto"/>
              </a:rPr>
              <a:t>Annual</a:t>
            </a:r>
            <a:r>
              <a:rPr sz="1600" b="1" spc="-70" dirty="0">
                <a:solidFill>
                  <a:srgbClr val="2E82C2"/>
                </a:solidFill>
                <a:latin typeface="Roboto"/>
                <a:cs typeface="Roboto"/>
              </a:rPr>
              <a:t> </a:t>
            </a:r>
            <a:r>
              <a:rPr sz="1600" b="1" spc="-110" dirty="0">
                <a:solidFill>
                  <a:srgbClr val="2E82C2"/>
                </a:solidFill>
                <a:latin typeface="Roboto"/>
                <a:cs typeface="Roboto"/>
              </a:rPr>
              <a:t>Review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72799" y="71520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609600"/>
                </a:moveTo>
                <a:lnTo>
                  <a:pt x="0" y="609600"/>
                </a:lnTo>
                <a:lnTo>
                  <a:pt x="0" y="0"/>
                </a:lnTo>
                <a:lnTo>
                  <a:pt x="609599" y="0"/>
                </a:lnTo>
                <a:lnTo>
                  <a:pt x="609599" y="609600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856" y="2266553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426720" h="426719">
                <a:moveTo>
                  <a:pt x="426339" y="426338"/>
                </a:moveTo>
                <a:lnTo>
                  <a:pt x="0" y="426338"/>
                </a:lnTo>
                <a:lnTo>
                  <a:pt x="0" y="0"/>
                </a:lnTo>
                <a:lnTo>
                  <a:pt x="426339" y="0"/>
                </a:lnTo>
                <a:lnTo>
                  <a:pt x="426339" y="426338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2799" y="7863770"/>
            <a:ext cx="240029" cy="240029"/>
          </a:xfrm>
          <a:custGeom>
            <a:avLst/>
            <a:gdLst/>
            <a:ahLst/>
            <a:cxnLst/>
            <a:rect l="l" t="t" r="r" b="b"/>
            <a:pathLst>
              <a:path w="240029" h="240029">
                <a:moveTo>
                  <a:pt x="240030" y="240030"/>
                </a:moveTo>
                <a:lnTo>
                  <a:pt x="0" y="240030"/>
                </a:lnTo>
                <a:lnTo>
                  <a:pt x="0" y="0"/>
                </a:lnTo>
                <a:lnTo>
                  <a:pt x="240030" y="0"/>
                </a:lnTo>
                <a:lnTo>
                  <a:pt x="240030" y="240030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8623300"/>
            <a:ext cx="304800" cy="22577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03300" y="445273"/>
            <a:ext cx="9563100" cy="1258037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VOIS Course completion certificate - Course name- Data Visualization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13</a:t>
            </a:fld>
            <a:r>
              <a:rPr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0FF81B-7AB8-8C0B-2619-D7642AF1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99" y="1981200"/>
            <a:ext cx="11736199" cy="70840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64592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Course Name: Data Visualization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Platform / Provider: VOIS Internship Program</a:t>
            </a: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Status: Completed</a:t>
            </a:r>
          </a:p>
          <a:p>
            <a:pPr>
              <a:defRPr sz="1400" b="0"/>
            </a:pPr>
          </a:p>
          <a:p>
            <a:pPr>
              <a:defRPr sz="1300" b="1">
                <a:solidFill>
                  <a:srgbClr val="B43232"/>
                </a:solidFill>
              </a:defRPr>
            </a:pPr>
            <a:r>
              <a:t>[Insert / Attach your Course Completion Certificate image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8903" y="4623477"/>
            <a:ext cx="611505" cy="527050"/>
          </a:xfrm>
          <a:custGeom>
            <a:avLst/>
            <a:gdLst/>
            <a:ahLst/>
            <a:cxnLst/>
            <a:rect l="l" t="t" r="r" b="b"/>
            <a:pathLst>
              <a:path w="611505" h="527050">
                <a:moveTo>
                  <a:pt x="458216" y="526796"/>
                </a:moveTo>
                <a:lnTo>
                  <a:pt x="152781" y="526796"/>
                </a:lnTo>
                <a:lnTo>
                  <a:pt x="0" y="263397"/>
                </a:lnTo>
                <a:lnTo>
                  <a:pt x="152781" y="0"/>
                </a:lnTo>
                <a:lnTo>
                  <a:pt x="458216" y="0"/>
                </a:lnTo>
                <a:lnTo>
                  <a:pt x="610997" y="263397"/>
                </a:lnTo>
                <a:lnTo>
                  <a:pt x="458216" y="526796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10419" y="2936313"/>
            <a:ext cx="785495" cy="669290"/>
            <a:chOff x="14510419" y="2936313"/>
            <a:chExt cx="785495" cy="669290"/>
          </a:xfrm>
        </p:grpSpPr>
        <p:sp>
          <p:nvSpPr>
            <p:cNvPr id="4" name="object 4"/>
            <p:cNvSpPr/>
            <p:nvPr/>
          </p:nvSpPr>
          <p:spPr>
            <a:xfrm>
              <a:off x="14818008" y="3193011"/>
              <a:ext cx="478155" cy="412115"/>
            </a:xfrm>
            <a:custGeom>
              <a:avLst/>
              <a:gdLst/>
              <a:ahLst/>
              <a:cxnLst/>
              <a:rect l="l" t="t" r="r" b="b"/>
              <a:pathLst>
                <a:path w="478155" h="412114">
                  <a:moveTo>
                    <a:pt x="358393" y="411988"/>
                  </a:moveTo>
                  <a:lnTo>
                    <a:pt x="119507" y="411988"/>
                  </a:lnTo>
                  <a:lnTo>
                    <a:pt x="0" y="205994"/>
                  </a:lnTo>
                  <a:lnTo>
                    <a:pt x="119507" y="0"/>
                  </a:lnTo>
                  <a:lnTo>
                    <a:pt x="358393" y="0"/>
                  </a:lnTo>
                  <a:lnTo>
                    <a:pt x="477901" y="205994"/>
                  </a:lnTo>
                  <a:lnTo>
                    <a:pt x="358393" y="411988"/>
                  </a:lnTo>
                  <a:close/>
                </a:path>
              </a:pathLst>
            </a:custGeom>
            <a:solidFill>
              <a:srgbClr val="2E8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10419" y="2936313"/>
              <a:ext cx="307975" cy="265430"/>
            </a:xfrm>
            <a:custGeom>
              <a:avLst/>
              <a:gdLst/>
              <a:ahLst/>
              <a:cxnLst/>
              <a:rect l="l" t="t" r="r" b="b"/>
              <a:pathLst>
                <a:path w="307975" h="265430">
                  <a:moveTo>
                    <a:pt x="230632" y="265175"/>
                  </a:moveTo>
                  <a:lnTo>
                    <a:pt x="76835" y="265175"/>
                  </a:lnTo>
                  <a:lnTo>
                    <a:pt x="0" y="132587"/>
                  </a:lnTo>
                  <a:lnTo>
                    <a:pt x="76835" y="0"/>
                  </a:lnTo>
                  <a:lnTo>
                    <a:pt x="230632" y="0"/>
                  </a:lnTo>
                  <a:lnTo>
                    <a:pt x="307593" y="132587"/>
                  </a:lnTo>
                  <a:lnTo>
                    <a:pt x="230632" y="265175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809" rIns="0" bIns="0" rtlCol="0">
            <a:spAutoFit/>
          </a:bodyPr>
          <a:lstStyle/>
          <a:p>
            <a:pPr>
              <a:defRPr sz="3600" b="1">
                <a:solidFill>
                  <a:srgbClr val="182B49"/>
                </a:solidFill>
              </a:defRPr>
            </a:pPr>
            <a:r>
              <a:t>Thank You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37300" y="6190297"/>
            <a:ext cx="774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40" dirty="0">
                <a:latin typeface="Roboto"/>
                <a:cs typeface="Roboto"/>
              </a:rPr>
              <a:t>.</a:t>
            </a:r>
            <a:endParaRPr sz="22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7000" y="6190297"/>
            <a:ext cx="774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40" dirty="0">
                <a:latin typeface="Roboto"/>
                <a:cs typeface="Roboto"/>
              </a:rPr>
              <a:t>.</a:t>
            </a:r>
            <a:endParaRPr sz="225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8623300"/>
            <a:ext cx="2857500" cy="2540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9"/>
              </a:lnSpc>
            </a:pPr>
            <a:fld id="{81D60167-4931-47E6-BA6A-407CBD079E47}" type="slidenum">
              <a:rPr spc="-360" dirty="0"/>
              <a:t>14</a:t>
            </a:fld>
            <a:r>
              <a:rPr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23232"/>
                </a:solidFill>
              </a:defRPr>
            </a:pPr>
            <a:r>
              <a:t>Questions &amp; Answers</a:t>
            </a:r>
          </a:p>
          <a:p>
            <a:pPr>
              <a:defRPr sz="1000" b="0"/>
            </a:pPr>
          </a:p>
          <a:p>
            <a:pPr>
              <a:defRPr sz="1600" b="1">
                <a:solidFill>
                  <a:srgbClr val="182B49"/>
                </a:solidFill>
              </a:defRPr>
            </a:pPr>
            <a:r>
              <a:t>Seasonal Agriculture Performance Analysis</a:t>
            </a:r>
          </a:p>
          <a:p>
            <a:pPr>
              <a:defRPr sz="1400" b="0">
                <a:solidFill>
                  <a:srgbClr val="464646"/>
                </a:solidFill>
              </a:defRPr>
            </a:pPr>
            <a:r>
              <a:t>Presented by: AJITHKUMAR HM</a:t>
            </a:r>
          </a:p>
          <a:p>
            <a:pPr>
              <a:defRPr sz="1300" b="0">
                <a:solidFill>
                  <a:srgbClr val="646464"/>
                </a:solidFill>
              </a:defRPr>
            </a:pPr>
            <a:r>
              <a:t>Rajeev Institute of Technology (RIT), Hassan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587</Words>
  <Application>Microsoft Office PowerPoint</Application>
  <PresentationFormat>Custom</PresentationFormat>
  <Paragraphs>154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Calibri</vt:lpstr>
      <vt:lpstr>Lucida Sans Unicode</vt:lpstr>
      <vt:lpstr>Roboto</vt:lpstr>
      <vt:lpstr>Office Theme</vt:lpstr>
      <vt:lpstr>Project Title-  Seasonal Agriculture Performance         Analysis </vt:lpstr>
      <vt:lpstr>PROBLEM STATEMENT</vt:lpstr>
      <vt:lpstr>Project Description :</vt:lpstr>
      <vt:lpstr>WHO ARE THE END USERS?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Technology Used</vt:lpstr>
      <vt:lpstr>                                             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 - Course name- Data Visualization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Ajithkumar HM</cp:lastModifiedBy>
  <cp:revision>2</cp:revision>
  <dcterms:created xsi:type="dcterms:W3CDTF">2026-09-08T02:26:20Z</dcterms:created>
  <dcterms:modified xsi:type="dcterms:W3CDTF">2026-09-08T18:32:43Z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Producer">
    <vt:lpwstr>Skia/PDF m128</vt:lpwstr>
  </property>
  <property fmtid="{D5CDD505-2E9C-101B-9397-08002B2CF9AE}" pid="5" name="LastSaved">
    <vt:filetime>2026-09-08T00:00:00Z</vt:filetime>
  </property>
</Properties>
</file>